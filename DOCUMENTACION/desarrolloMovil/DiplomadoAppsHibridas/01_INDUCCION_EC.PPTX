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97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5" r:id="rId10"/>
    <p:sldId id="314" r:id="rId11"/>
    <p:sldId id="312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2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F7E6D-7A2C-481F-AE0B-8C579E4AE0AD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40472-6559-4818-AE03-8A6D2AF005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9084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259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7566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000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161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826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801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567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440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89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7795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802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BE9F6-ADBA-4D5E-BDB4-A2892C612C43}" type="datetimeFigureOut">
              <a:rPr lang="es-CO" smtClean="0"/>
              <a:t>29/09/2016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33EF9-D8B5-42C6-80C2-0ABE104F86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080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pqr-postgrados@unipiloto.edu.co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adroTexto 66"/>
          <p:cNvSpPr txBox="1"/>
          <p:nvPr/>
        </p:nvSpPr>
        <p:spPr>
          <a:xfrm>
            <a:off x="211892" y="649949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b="1" dirty="0"/>
              <a:t>Dirección de Postgrados y Educación Continuada</a:t>
            </a:r>
          </a:p>
        </p:txBody>
      </p:sp>
      <p:sp>
        <p:nvSpPr>
          <p:cNvPr id="17" name="Rectángulo redondeado 16"/>
          <p:cNvSpPr/>
          <p:nvPr/>
        </p:nvSpPr>
        <p:spPr>
          <a:xfrm>
            <a:off x="3331029" y="597413"/>
            <a:ext cx="6047147" cy="46166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s-CO" sz="1400" b="1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   INDUCCIÓN </a:t>
            </a:r>
            <a:r>
              <a:rPr lang="es-CO" sz="1400" b="1" dirty="0">
                <a:solidFill>
                  <a:schemeClr val="bg1"/>
                </a:solidFill>
                <a:latin typeface="Lucida Sans" panose="020B0602030504020204" pitchFamily="34" charset="0"/>
              </a:rPr>
              <a:t>PROGRAMAS DE </a:t>
            </a:r>
            <a:r>
              <a:rPr lang="es-CO" sz="1400" b="1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EDUCACIÓN CONTINUADA</a:t>
            </a:r>
            <a:endParaRPr lang="es-CO" sz="140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451" y="1828800"/>
            <a:ext cx="4246148" cy="424614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CuadroTexto 2"/>
          <p:cNvSpPr txBox="1"/>
          <p:nvPr/>
        </p:nvSpPr>
        <p:spPr>
          <a:xfrm>
            <a:off x="790036" y="3951874"/>
            <a:ext cx="26212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Gestión</a:t>
            </a:r>
          </a:p>
          <a:p>
            <a:pPr algn="ctr"/>
            <a:r>
              <a:rPr lang="es-CO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Operativa</a:t>
            </a:r>
            <a:endParaRPr lang="es-CO" sz="48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72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6901945" y="-1"/>
            <a:ext cx="2073127" cy="5292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 sz="1350"/>
          </a:p>
        </p:txBody>
      </p:sp>
      <p:sp>
        <p:nvSpPr>
          <p:cNvPr id="10" name="CuadroTexto 9"/>
          <p:cNvSpPr txBox="1"/>
          <p:nvPr/>
        </p:nvSpPr>
        <p:spPr>
          <a:xfrm>
            <a:off x="7539737" y="234335"/>
            <a:ext cx="1481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GESTIÓN OPERATIVA</a:t>
            </a:r>
            <a:endParaRPr lang="es-CO" sz="9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211892" y="649949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b="1" dirty="0"/>
              <a:t>Dirección de Postgrados y Educación Continuada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-125452" y="1762426"/>
            <a:ext cx="5293261" cy="338100"/>
          </a:xfrm>
          <a:prstGeom prst="roundRect">
            <a:avLst>
              <a:gd name="adj" fmla="val 50000"/>
            </a:avLst>
          </a:prstGeom>
          <a:solidFill>
            <a:srgbClr val="BC8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 sz="105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994014" y="1737336"/>
            <a:ext cx="4173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1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Gestión operativa</a:t>
            </a:r>
            <a:endParaRPr lang="es-CO" sz="21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17" name="Shape 104"/>
          <p:cNvSpPr txBox="1">
            <a:spLocks/>
          </p:cNvSpPr>
          <p:nvPr/>
        </p:nvSpPr>
        <p:spPr bwMode="auto">
          <a:xfrm>
            <a:off x="852500" y="3467432"/>
            <a:ext cx="3480014" cy="1398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s-ES" sz="2000" dirty="0"/>
              <a:t>Para hacer </a:t>
            </a:r>
            <a:r>
              <a:rPr lang="es-ES" sz="2000" dirty="0" smtClean="0"/>
              <a:t>su experiencia </a:t>
            </a:r>
            <a:r>
              <a:rPr lang="es-ES" sz="2000" dirty="0"/>
              <a:t>más grata, deseamos brindarle </a:t>
            </a:r>
            <a:r>
              <a:rPr lang="es-ES" sz="2000" dirty="0" smtClean="0"/>
              <a:t>información útil </a:t>
            </a:r>
            <a:r>
              <a:rPr lang="es-ES" sz="2000" dirty="0"/>
              <a:t>acerca de nuestro </a:t>
            </a:r>
            <a:r>
              <a:rPr lang="es-ES" sz="2000" dirty="0" smtClean="0"/>
              <a:t>apoyo operativo.</a:t>
            </a:r>
            <a:endParaRPr lang="es-ES" sz="2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80"/>
          <a:stretch/>
        </p:blipFill>
        <p:spPr>
          <a:xfrm>
            <a:off x="5058951" y="2542902"/>
            <a:ext cx="3343123" cy="288907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1" name="Imagen 20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669" y="169243"/>
            <a:ext cx="720000" cy="720000"/>
          </a:xfrm>
          <a:prstGeom prst="ellipse">
            <a:avLst/>
          </a:prstGeom>
          <a:ln w="28575" cap="rnd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9871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adroTexto 66"/>
          <p:cNvSpPr txBox="1"/>
          <p:nvPr/>
        </p:nvSpPr>
        <p:spPr>
          <a:xfrm>
            <a:off x="211892" y="649949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b="1" dirty="0"/>
              <a:t>Dirección de Postgrados y Educación Continuada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-125452" y="1762426"/>
            <a:ext cx="5293261" cy="338100"/>
          </a:xfrm>
          <a:prstGeom prst="roundRect">
            <a:avLst>
              <a:gd name="adj" fmla="val 50000"/>
            </a:avLst>
          </a:prstGeom>
          <a:solidFill>
            <a:srgbClr val="BC8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 sz="105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994014" y="1737336"/>
            <a:ext cx="4173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1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Asistencia</a:t>
            </a:r>
            <a:endParaRPr lang="es-CO" sz="21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566057" y="2721615"/>
            <a:ext cx="31024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s-ES_tradnl" sz="2000" dirty="0"/>
              <a:t>En cada sesión se entregará un listado de asistencia, </a:t>
            </a:r>
            <a:r>
              <a:rPr lang="es-ES_tradnl" sz="2000" dirty="0" smtClean="0"/>
              <a:t>para ser firmado por los estudiantes. </a:t>
            </a:r>
            <a:r>
              <a:rPr lang="es-ES_tradnl" sz="2000" dirty="0"/>
              <a:t>Si Usted tiene alguna dificultad para asistir a clase,  favor comunicarlo previamente por escrito al Director </a:t>
            </a:r>
            <a:r>
              <a:rPr lang="es-ES_tradnl" sz="2000" dirty="0" smtClean="0"/>
              <a:t>de programa para </a:t>
            </a:r>
            <a:r>
              <a:rPr lang="es-ES_tradnl" sz="2000" dirty="0"/>
              <a:t>el trámite respectivo.</a:t>
            </a:r>
            <a:endParaRPr lang="es-ES" sz="2000" dirty="0"/>
          </a:p>
        </p:txBody>
      </p:sp>
      <p:sp>
        <p:nvSpPr>
          <p:cNvPr id="10" name="Rectángulo 9"/>
          <p:cNvSpPr/>
          <p:nvPr/>
        </p:nvSpPr>
        <p:spPr>
          <a:xfrm>
            <a:off x="6901945" y="-1"/>
            <a:ext cx="2073127" cy="5292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 sz="1350"/>
          </a:p>
        </p:txBody>
      </p:sp>
      <p:sp>
        <p:nvSpPr>
          <p:cNvPr id="11" name="CuadroTexto 10"/>
          <p:cNvSpPr txBox="1"/>
          <p:nvPr/>
        </p:nvSpPr>
        <p:spPr>
          <a:xfrm>
            <a:off x="7539737" y="234335"/>
            <a:ext cx="1481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GESTIÓN OPERATIVA</a:t>
            </a:r>
            <a:endParaRPr lang="es-CO" sz="9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pic>
        <p:nvPicPr>
          <p:cNvPr id="20" name="Imagen 1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669" y="169243"/>
            <a:ext cx="720000" cy="720000"/>
          </a:xfrm>
          <a:prstGeom prst="ellipse">
            <a:avLst/>
          </a:prstGeom>
          <a:ln w="28575" cap="rnd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982" y="2586651"/>
            <a:ext cx="4530952" cy="3485013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4121982" y="2586651"/>
            <a:ext cx="4530952" cy="348501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342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adroTexto 66"/>
          <p:cNvSpPr txBox="1"/>
          <p:nvPr/>
        </p:nvSpPr>
        <p:spPr>
          <a:xfrm>
            <a:off x="211892" y="649949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b="1" dirty="0"/>
              <a:t>Dirección de Postgrados y Educación Continuada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-125452" y="1762426"/>
            <a:ext cx="5293261" cy="338100"/>
          </a:xfrm>
          <a:prstGeom prst="roundRect">
            <a:avLst>
              <a:gd name="adj" fmla="val 50000"/>
            </a:avLst>
          </a:prstGeom>
          <a:solidFill>
            <a:srgbClr val="BC8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 sz="105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994014" y="1737336"/>
            <a:ext cx="4173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1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Materiales y programación</a:t>
            </a:r>
            <a:endParaRPr lang="es-CO" sz="21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38201" y="2419361"/>
            <a:ext cx="1534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dirty="0" smtClean="0">
                <a:solidFill>
                  <a:srgbClr val="644C00"/>
                </a:solidFill>
                <a:latin typeface="Lucida Sans" panose="020B0602030504020204" pitchFamily="34" charset="0"/>
              </a:rPr>
              <a:t>Materiales:</a:t>
            </a:r>
            <a:endParaRPr lang="es-CO" sz="2000" dirty="0">
              <a:solidFill>
                <a:srgbClr val="644C00"/>
              </a:solidFill>
              <a:latin typeface="Lucida Sans" panose="020B0602030504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8199" y="2884902"/>
            <a:ext cx="7522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" sz="2000" dirty="0"/>
              <a:t>Durante el </a:t>
            </a:r>
            <a:r>
              <a:rPr lang="es-ES" sz="2000" dirty="0" smtClean="0"/>
              <a:t>programa </a:t>
            </a:r>
            <a:r>
              <a:rPr lang="es-ES" sz="2000" dirty="0"/>
              <a:t>se entregará el material por medios virtuales</a:t>
            </a:r>
            <a:r>
              <a:rPr lang="es-ES_tradnl" sz="2000" dirty="0"/>
              <a:t>.</a:t>
            </a:r>
            <a:endParaRPr lang="es-CO" sz="20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838197" y="3692991"/>
            <a:ext cx="1975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dirty="0" smtClean="0">
                <a:solidFill>
                  <a:srgbClr val="644C00"/>
                </a:solidFill>
                <a:latin typeface="Lucida Sans" panose="020B0602030504020204" pitchFamily="34" charset="0"/>
              </a:rPr>
              <a:t>Programación:</a:t>
            </a:r>
            <a:endParaRPr lang="es-CO" sz="2000" dirty="0">
              <a:solidFill>
                <a:srgbClr val="644C00"/>
              </a:solidFill>
              <a:latin typeface="Lucida Sans" panose="020B0602030504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38196" y="4158532"/>
            <a:ext cx="7108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_tradnl" sz="2000" dirty="0"/>
              <a:t>Se hará entrega del cronograma del </a:t>
            </a:r>
            <a:r>
              <a:rPr lang="es-ES_tradnl" sz="2000" dirty="0" smtClean="0"/>
              <a:t>programa académico</a:t>
            </a:r>
            <a:r>
              <a:rPr lang="es-ES_tradnl" sz="2000" dirty="0"/>
              <a:t>. Si se presenta algún cambio el Director Académico lo comunicará </a:t>
            </a:r>
            <a:r>
              <a:rPr lang="es-ES_tradnl" sz="2000" dirty="0" smtClean="0"/>
              <a:t>oportunamente.</a:t>
            </a:r>
            <a:endParaRPr lang="es-CO" sz="2000" dirty="0"/>
          </a:p>
        </p:txBody>
      </p:sp>
      <p:sp>
        <p:nvSpPr>
          <p:cNvPr id="11" name="Rectángulo 10"/>
          <p:cNvSpPr/>
          <p:nvPr/>
        </p:nvSpPr>
        <p:spPr>
          <a:xfrm>
            <a:off x="6901945" y="-1"/>
            <a:ext cx="2073127" cy="5292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 sz="1350"/>
          </a:p>
        </p:txBody>
      </p:sp>
      <p:sp>
        <p:nvSpPr>
          <p:cNvPr id="12" name="CuadroTexto 11"/>
          <p:cNvSpPr txBox="1"/>
          <p:nvPr/>
        </p:nvSpPr>
        <p:spPr>
          <a:xfrm>
            <a:off x="7539737" y="234335"/>
            <a:ext cx="1481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GESTIÓN OPERATIVA</a:t>
            </a:r>
            <a:endParaRPr lang="es-CO" sz="9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pic>
        <p:nvPicPr>
          <p:cNvPr id="24" name="Imagen 2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669" y="169243"/>
            <a:ext cx="720000" cy="720000"/>
          </a:xfrm>
          <a:prstGeom prst="ellipse">
            <a:avLst/>
          </a:prstGeom>
          <a:ln w="28575" cap="rnd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9270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adroTexto 66"/>
          <p:cNvSpPr txBox="1"/>
          <p:nvPr/>
        </p:nvSpPr>
        <p:spPr>
          <a:xfrm>
            <a:off x="211892" y="649949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b="1" dirty="0"/>
              <a:t>Dirección de Postgrados y Educación Continuada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-125452" y="1762426"/>
            <a:ext cx="5786023" cy="338100"/>
          </a:xfrm>
          <a:prstGeom prst="roundRect">
            <a:avLst>
              <a:gd name="adj" fmla="val 50000"/>
            </a:avLst>
          </a:prstGeom>
          <a:solidFill>
            <a:srgbClr val="BC8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 sz="105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994014" y="1737336"/>
            <a:ext cx="45685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1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Evaluación de la calidad y receso</a:t>
            </a:r>
            <a:endParaRPr lang="es-CO" sz="21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38201" y="2343159"/>
            <a:ext cx="3223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dirty="0" smtClean="0">
                <a:solidFill>
                  <a:srgbClr val="644C00"/>
                </a:solidFill>
                <a:latin typeface="Lucida Sans" panose="020B0602030504020204" pitchFamily="34" charset="0"/>
              </a:rPr>
              <a:t>Evaluación de la calidad:</a:t>
            </a:r>
            <a:endParaRPr lang="es-CO" sz="2000" dirty="0">
              <a:solidFill>
                <a:srgbClr val="644C00"/>
              </a:solidFill>
              <a:latin typeface="Lucida Sans" panose="020B0602030504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8199" y="2721612"/>
            <a:ext cx="75220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_tradnl" sz="2000" dirty="0"/>
              <a:t>En pro del mejoramiento continuo de nuestros programas, durante su desarrollo realizaremos encuestas de satisfacción en las cuales usted podrá evaluar a los </a:t>
            </a:r>
            <a:r>
              <a:rPr lang="es-ES_tradnl" sz="2000" dirty="0" smtClean="0"/>
              <a:t>docentes, directores académicos y los servicios de la Universidad. </a:t>
            </a:r>
            <a:r>
              <a:rPr lang="es-ES_tradnl" sz="2000" dirty="0"/>
              <a:t>Esto nos ayudará a conocer su opinión y lograr el nivel de excelencia exigido por nuestra </a:t>
            </a:r>
            <a:r>
              <a:rPr lang="es-ES_tradnl" sz="2000" dirty="0" smtClean="0"/>
              <a:t>Institución</a:t>
            </a:r>
            <a:r>
              <a:rPr lang="es-ES_tradnl" sz="2000" dirty="0"/>
              <a:t>.</a:t>
            </a:r>
            <a:endParaRPr lang="es-CO" sz="20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838197" y="4531187"/>
            <a:ext cx="1133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dirty="0" smtClean="0">
                <a:solidFill>
                  <a:srgbClr val="644C00"/>
                </a:solidFill>
                <a:latin typeface="Lucida Sans" panose="020B0602030504020204" pitchFamily="34" charset="0"/>
              </a:rPr>
              <a:t>Receso:</a:t>
            </a:r>
            <a:endParaRPr lang="es-CO" sz="2000" dirty="0">
              <a:solidFill>
                <a:srgbClr val="644C00"/>
              </a:solidFill>
              <a:latin typeface="Lucida Sans" panose="020B0602030504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38196" y="4920526"/>
            <a:ext cx="7392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_tradnl" sz="2000" dirty="0"/>
              <a:t>Durante cada una de las sesiones se cuenta con un descanso de aproximadamente 15 minutos. Cada sede cuenta con una estación de café; Sede S</a:t>
            </a:r>
            <a:r>
              <a:rPr lang="es-ES_tradnl" sz="2000" dirty="0" smtClean="0"/>
              <a:t>: piso 4; </a:t>
            </a:r>
            <a:r>
              <a:rPr lang="es-ES_tradnl" sz="2000" dirty="0"/>
              <a:t>Sede P</a:t>
            </a:r>
            <a:r>
              <a:rPr lang="es-ES_tradnl" sz="2000" dirty="0" smtClean="0"/>
              <a:t>: piso 1; </a:t>
            </a:r>
            <a:r>
              <a:rPr lang="es-ES_tradnl" sz="2000" dirty="0"/>
              <a:t>Sede APR: </a:t>
            </a:r>
            <a:r>
              <a:rPr lang="es-ES_tradnl" sz="2000" dirty="0" smtClean="0"/>
              <a:t>piso 3.</a:t>
            </a:r>
            <a:endParaRPr lang="es-CO" sz="2000" dirty="0"/>
          </a:p>
        </p:txBody>
      </p:sp>
      <p:sp>
        <p:nvSpPr>
          <p:cNvPr id="11" name="Rectángulo 10"/>
          <p:cNvSpPr/>
          <p:nvPr/>
        </p:nvSpPr>
        <p:spPr>
          <a:xfrm>
            <a:off x="6901945" y="-1"/>
            <a:ext cx="2073127" cy="5292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 sz="1350"/>
          </a:p>
        </p:txBody>
      </p:sp>
      <p:sp>
        <p:nvSpPr>
          <p:cNvPr id="12" name="CuadroTexto 11"/>
          <p:cNvSpPr txBox="1"/>
          <p:nvPr/>
        </p:nvSpPr>
        <p:spPr>
          <a:xfrm>
            <a:off x="7539737" y="234335"/>
            <a:ext cx="1481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GESTIÓN OPERATIVA</a:t>
            </a:r>
            <a:endParaRPr lang="es-CO" sz="9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pic>
        <p:nvPicPr>
          <p:cNvPr id="24" name="Imagen 2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669" y="169243"/>
            <a:ext cx="720000" cy="720000"/>
          </a:xfrm>
          <a:prstGeom prst="ellipse">
            <a:avLst/>
          </a:prstGeom>
          <a:ln w="28575" cap="rnd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5934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adroTexto 66"/>
          <p:cNvSpPr txBox="1"/>
          <p:nvPr/>
        </p:nvSpPr>
        <p:spPr>
          <a:xfrm>
            <a:off x="211892" y="649949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b="1" dirty="0"/>
              <a:t>Dirección de Postgrados y Educación Continuada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-125452" y="1762426"/>
            <a:ext cx="5293261" cy="338100"/>
          </a:xfrm>
          <a:prstGeom prst="roundRect">
            <a:avLst>
              <a:gd name="adj" fmla="val 50000"/>
            </a:avLst>
          </a:prstGeom>
          <a:solidFill>
            <a:srgbClr val="BC8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 sz="105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994014" y="1737336"/>
            <a:ext cx="4173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1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Carné estudiantil</a:t>
            </a:r>
            <a:endParaRPr lang="es-CO" sz="21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38201" y="2343159"/>
            <a:ext cx="5524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dirty="0" smtClean="0">
                <a:solidFill>
                  <a:srgbClr val="644C00"/>
                </a:solidFill>
                <a:latin typeface="Lucida Sans" panose="020B0602030504020204" pitchFamily="34" charset="0"/>
              </a:rPr>
              <a:t>Documento de identificación institucional:</a:t>
            </a:r>
            <a:endParaRPr lang="es-CO" sz="2000" dirty="0">
              <a:solidFill>
                <a:srgbClr val="644C00"/>
              </a:solidFill>
              <a:latin typeface="Lucida Sans" panose="020B0602030504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8200" y="2721612"/>
            <a:ext cx="75598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_tradnl" sz="2000" dirty="0" smtClean="0"/>
              <a:t>Carné - (entregado </a:t>
            </a:r>
            <a:r>
              <a:rPr lang="es-ES_tradnl" sz="2000" dirty="0"/>
              <a:t>previa presentación de documentos y registro): Recuerde, es el </a:t>
            </a:r>
            <a:r>
              <a:rPr lang="es-ES_tradnl" sz="2000" b="1" dirty="0"/>
              <a:t>ÚNICO</a:t>
            </a:r>
            <a:r>
              <a:rPr lang="es-ES_tradnl" sz="2000" dirty="0"/>
              <a:t> documento que le permitirá ingresar a las instalaciones y tener acceso a los servicios de la Universidad: laboratorios, servicio médico, biblioteca, Bienestar Institucional, entre otros</a:t>
            </a:r>
            <a:r>
              <a:rPr lang="es-ES_tradnl" sz="2000" dirty="0" smtClean="0"/>
              <a:t>.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838201" y="4507993"/>
            <a:ext cx="75598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just">
              <a:defRPr/>
            </a:pPr>
            <a:r>
              <a:rPr lang="es-ES_tradnl" sz="2000" dirty="0"/>
              <a:t>Por favor consérvelo y pórtelo. </a:t>
            </a:r>
          </a:p>
          <a:p>
            <a:pPr marL="0" lvl="1" algn="just">
              <a:defRPr/>
            </a:pPr>
            <a:r>
              <a:rPr lang="es-ES_tradnl" sz="2000" dirty="0"/>
              <a:t>En caso de pérdida es necesario presentar el denuncio y el pago de renovación correspondiente en el área de Gestión Operativa</a:t>
            </a:r>
            <a:r>
              <a:rPr lang="es-ES_tradnl" sz="2000" dirty="0" smtClean="0"/>
              <a:t>.</a:t>
            </a:r>
            <a:endParaRPr lang="es-CO" sz="2000" dirty="0"/>
          </a:p>
        </p:txBody>
      </p:sp>
      <p:sp>
        <p:nvSpPr>
          <p:cNvPr id="11" name="Rectángulo 10"/>
          <p:cNvSpPr/>
          <p:nvPr/>
        </p:nvSpPr>
        <p:spPr>
          <a:xfrm>
            <a:off x="6901945" y="-1"/>
            <a:ext cx="2073127" cy="5292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 sz="1350"/>
          </a:p>
        </p:txBody>
      </p:sp>
      <p:sp>
        <p:nvSpPr>
          <p:cNvPr id="12" name="CuadroTexto 11"/>
          <p:cNvSpPr txBox="1"/>
          <p:nvPr/>
        </p:nvSpPr>
        <p:spPr>
          <a:xfrm>
            <a:off x="7539737" y="234335"/>
            <a:ext cx="1481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GESTIÓN OPERATIVA</a:t>
            </a:r>
            <a:endParaRPr lang="es-CO" sz="9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pic>
        <p:nvPicPr>
          <p:cNvPr id="25" name="Imagen 2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669" y="169243"/>
            <a:ext cx="720000" cy="720000"/>
          </a:xfrm>
          <a:prstGeom prst="ellipse">
            <a:avLst/>
          </a:prstGeom>
          <a:ln w="28575" cap="rnd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1685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adroTexto 66"/>
          <p:cNvSpPr txBox="1"/>
          <p:nvPr/>
        </p:nvSpPr>
        <p:spPr>
          <a:xfrm>
            <a:off x="211892" y="649949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b="1" dirty="0"/>
              <a:t>Dirección de Postgrados y Educación Continuada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-125452" y="1762426"/>
            <a:ext cx="5293261" cy="338100"/>
          </a:xfrm>
          <a:prstGeom prst="roundRect">
            <a:avLst>
              <a:gd name="adj" fmla="val 50000"/>
            </a:avLst>
          </a:prstGeom>
          <a:solidFill>
            <a:srgbClr val="BC8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 sz="105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994014" y="1737336"/>
            <a:ext cx="4173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1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Nemónico del programa</a:t>
            </a:r>
            <a:endParaRPr lang="es-CO" sz="21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8199" y="3048184"/>
            <a:ext cx="752202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_tradnl" sz="2000" dirty="0"/>
              <a:t>Es la sigla de identificación requerida para efectos de pago y cualquier proceso  administrativo y académico del programa</a:t>
            </a:r>
            <a:r>
              <a:rPr lang="es-ES_tradnl" sz="2000" dirty="0" smtClean="0"/>
              <a:t>.</a:t>
            </a:r>
            <a:endParaRPr lang="es-ES_tradnl" sz="2000" dirty="0"/>
          </a:p>
          <a:p>
            <a:pPr indent="15875" algn="just">
              <a:defRPr/>
            </a:pPr>
            <a:endParaRPr lang="es-ES_tradnl" sz="2000" dirty="0"/>
          </a:p>
          <a:p>
            <a:pPr algn="ctr"/>
            <a:r>
              <a:rPr lang="es-CO" sz="3200" b="1" u="sng" dirty="0" smtClean="0"/>
              <a:t>APM05</a:t>
            </a:r>
            <a:endParaRPr lang="es-CO" sz="2400" u="sng" dirty="0"/>
          </a:p>
        </p:txBody>
      </p:sp>
      <p:sp>
        <p:nvSpPr>
          <p:cNvPr id="9" name="Rectángulo 8"/>
          <p:cNvSpPr/>
          <p:nvPr/>
        </p:nvSpPr>
        <p:spPr>
          <a:xfrm>
            <a:off x="6901945" y="-1"/>
            <a:ext cx="2073127" cy="5292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 sz="1350"/>
          </a:p>
        </p:txBody>
      </p:sp>
      <p:sp>
        <p:nvSpPr>
          <p:cNvPr id="10" name="CuadroTexto 9"/>
          <p:cNvSpPr txBox="1"/>
          <p:nvPr/>
        </p:nvSpPr>
        <p:spPr>
          <a:xfrm>
            <a:off x="7539737" y="234335"/>
            <a:ext cx="1481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GESTIÓN OPERATIVA</a:t>
            </a:r>
            <a:endParaRPr lang="es-CO" sz="9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pic>
        <p:nvPicPr>
          <p:cNvPr id="18" name="Imagen 1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669" y="169243"/>
            <a:ext cx="720000" cy="720000"/>
          </a:xfrm>
          <a:prstGeom prst="ellipse">
            <a:avLst/>
          </a:prstGeom>
          <a:ln w="28575" cap="rnd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2748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adroTexto 66"/>
          <p:cNvSpPr txBox="1"/>
          <p:nvPr/>
        </p:nvSpPr>
        <p:spPr>
          <a:xfrm>
            <a:off x="211892" y="649949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b="1" dirty="0"/>
              <a:t>Dirección de Postgrados y Educación Continuada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-125452" y="1762426"/>
            <a:ext cx="5293261" cy="338100"/>
          </a:xfrm>
          <a:prstGeom prst="roundRect">
            <a:avLst>
              <a:gd name="adj" fmla="val 50000"/>
            </a:avLst>
          </a:prstGeom>
          <a:solidFill>
            <a:srgbClr val="BC8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 sz="105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994014" y="1737336"/>
            <a:ext cx="4173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1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Portátiles y salas de cómputo</a:t>
            </a:r>
            <a:endParaRPr lang="es-CO" sz="21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38201" y="2343159"/>
            <a:ext cx="82862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dirty="0" smtClean="0">
                <a:solidFill>
                  <a:srgbClr val="644C00"/>
                </a:solidFill>
                <a:latin typeface="Lucida Sans" panose="020B0602030504020204" pitchFamily="34" charset="0"/>
              </a:rPr>
              <a:t>Registro de portátiles y seguridad física de las salas de cómputo:</a:t>
            </a:r>
            <a:endParaRPr lang="es-CO" sz="2000" dirty="0">
              <a:solidFill>
                <a:srgbClr val="644C00"/>
              </a:solidFill>
              <a:latin typeface="Lucida Sans" panose="020B0602030504020204" pitchFamily="34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3778429" y="2841171"/>
            <a:ext cx="4671698" cy="2919812"/>
            <a:chOff x="899592" y="980728"/>
            <a:chExt cx="7488832" cy="4680520"/>
          </a:xfrm>
        </p:grpSpPr>
        <p:pic>
          <p:nvPicPr>
            <p:cNvPr id="10" name="Imagen 9" descr="http://www.revolucaodigital.net/wp-content/uploads/2012/02/apple-macbook-white-610x400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980728"/>
              <a:ext cx="7488832" cy="468052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1" name="Imagen 10" descr="http://3.bp.blogspot.com/-5_o7-n1fVZk/U95xiFbpOFI/AAAAAAAAC_8/8N3s8ksOmyE/s1600/comida-chatarra.jpg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3883" y="1730326"/>
              <a:ext cx="3120249" cy="31778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Rectángulo 11"/>
          <p:cNvSpPr/>
          <p:nvPr/>
        </p:nvSpPr>
        <p:spPr>
          <a:xfrm>
            <a:off x="6901945" y="-1"/>
            <a:ext cx="2073127" cy="5292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 sz="1350"/>
          </a:p>
        </p:txBody>
      </p:sp>
      <p:sp>
        <p:nvSpPr>
          <p:cNvPr id="13" name="CuadroTexto 12"/>
          <p:cNvSpPr txBox="1"/>
          <p:nvPr/>
        </p:nvSpPr>
        <p:spPr>
          <a:xfrm>
            <a:off x="7539737" y="234335"/>
            <a:ext cx="1481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GESTIÓN OPERATIVA</a:t>
            </a:r>
            <a:endParaRPr lang="es-CO" sz="9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pic>
        <p:nvPicPr>
          <p:cNvPr id="22" name="Imagen 2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669" y="169243"/>
            <a:ext cx="720000" cy="720000"/>
          </a:xfrm>
          <a:prstGeom prst="ellipse">
            <a:avLst/>
          </a:prstGeom>
          <a:ln w="28575" cap="rnd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9448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adroTexto 66"/>
          <p:cNvSpPr txBox="1"/>
          <p:nvPr/>
        </p:nvSpPr>
        <p:spPr>
          <a:xfrm>
            <a:off x="211892" y="649949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b="1" dirty="0"/>
              <a:t>Dirección de Postgrados y Educación Continuada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-125452" y="1762426"/>
            <a:ext cx="5470338" cy="338100"/>
          </a:xfrm>
          <a:prstGeom prst="roundRect">
            <a:avLst>
              <a:gd name="adj" fmla="val 50000"/>
            </a:avLst>
          </a:prstGeom>
          <a:solidFill>
            <a:srgbClr val="BC8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 sz="105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994014" y="1737336"/>
            <a:ext cx="4173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1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Sistema de Gestión de Calidad</a:t>
            </a:r>
            <a:endParaRPr lang="es-CO" sz="21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8199" y="2307958"/>
            <a:ext cx="752202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La Dirección de Postgrados y Educación Continuada a partir de marzo de 2015, dio inicio a la implementación del Sistema de Gestión de la Calidad con el fin de elevar el grado de satisfacción de sus estudiantes. </a:t>
            </a:r>
            <a:endParaRPr lang="es-ES" sz="2000" dirty="0" smtClean="0"/>
          </a:p>
          <a:p>
            <a:pPr algn="ctr"/>
            <a:endParaRPr lang="es-ES" sz="2000" dirty="0"/>
          </a:p>
          <a:p>
            <a:pPr algn="ctr"/>
            <a:r>
              <a:rPr lang="es-ES" sz="2000" dirty="0" smtClean="0"/>
              <a:t>Escríbale a Nathalia Vanegas para conocer sus </a:t>
            </a:r>
            <a:r>
              <a:rPr lang="es-ES" sz="2000" dirty="0"/>
              <a:t>peticiones, quejas, reclamos y sugerencias a través del siguiente correo electrónico:</a:t>
            </a:r>
          </a:p>
          <a:p>
            <a:pPr algn="ctr"/>
            <a:endParaRPr lang="es-ES" sz="2000" dirty="0"/>
          </a:p>
          <a:p>
            <a:pPr algn="ctr"/>
            <a:endParaRPr lang="es-ES" sz="2000" dirty="0"/>
          </a:p>
          <a:p>
            <a:pPr algn="ctr"/>
            <a:endParaRPr lang="es-ES" sz="2000" dirty="0"/>
          </a:p>
          <a:p>
            <a:pPr algn="ctr"/>
            <a:r>
              <a:rPr lang="es-ES" sz="2000" dirty="0" smtClean="0"/>
              <a:t>Estaremos dando respuesta a su solicitud a la mayor brevedad posible.</a:t>
            </a:r>
          </a:p>
          <a:p>
            <a:pPr algn="ctr"/>
            <a:r>
              <a:rPr lang="es-ES" sz="2000" dirty="0" smtClean="0"/>
              <a:t>Su </a:t>
            </a:r>
            <a:r>
              <a:rPr lang="es-ES" sz="2000" dirty="0"/>
              <a:t>opinión es </a:t>
            </a:r>
            <a:r>
              <a:rPr lang="es-ES" sz="2000" dirty="0" smtClean="0"/>
              <a:t>muy importante </a:t>
            </a:r>
            <a:r>
              <a:rPr lang="es-ES" sz="2000" dirty="0"/>
              <a:t>para </a:t>
            </a:r>
            <a:r>
              <a:rPr lang="es-ES" sz="2000" dirty="0" smtClean="0"/>
              <a:t>nosotros y </a:t>
            </a:r>
            <a:r>
              <a:rPr lang="es-ES" sz="2000" dirty="0"/>
              <a:t>nos ayuda a mejorar continuamente. </a:t>
            </a:r>
          </a:p>
          <a:p>
            <a:pPr algn="ctr"/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6901945" y="-1"/>
            <a:ext cx="2073127" cy="5292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 sz="1350"/>
          </a:p>
        </p:txBody>
      </p:sp>
      <p:sp>
        <p:nvSpPr>
          <p:cNvPr id="10" name="CuadroTexto 9"/>
          <p:cNvSpPr txBox="1"/>
          <p:nvPr/>
        </p:nvSpPr>
        <p:spPr>
          <a:xfrm>
            <a:off x="7539737" y="234335"/>
            <a:ext cx="1481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GESTIÓN OPERATIVA</a:t>
            </a:r>
            <a:endParaRPr lang="es-CO" sz="90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pic>
        <p:nvPicPr>
          <p:cNvPr id="18" name="Imagen 1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669" y="169243"/>
            <a:ext cx="720000" cy="720000"/>
          </a:xfrm>
          <a:prstGeom prst="ellipse">
            <a:avLst/>
          </a:prstGeom>
          <a:ln w="28575" cap="rnd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1" name="CuadroTexto 20"/>
          <p:cNvSpPr txBox="1"/>
          <p:nvPr/>
        </p:nvSpPr>
        <p:spPr>
          <a:xfrm>
            <a:off x="1297952" y="4333833"/>
            <a:ext cx="6602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hlinkClick r:id="rId4"/>
              </a:rPr>
              <a:t>pqr-postgrados@unipiloto.edu.co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96437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3" name="Conector recto 2"/>
          <p:cNvCxnSpPr/>
          <p:nvPr/>
        </p:nvCxnSpPr>
        <p:spPr>
          <a:xfrm>
            <a:off x="262965" y="1225176"/>
            <a:ext cx="2504141" cy="59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96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4427" y="3652813"/>
            <a:ext cx="7886700" cy="1325563"/>
          </a:xfrm>
        </p:spPr>
        <p:txBody>
          <a:bodyPr/>
          <a:lstStyle/>
          <a:p>
            <a:pPr algn="ctr"/>
            <a:r>
              <a:rPr lang="es-CO" b="1" dirty="0" smtClean="0">
                <a:latin typeface="Lucida Sans" panose="020B0602030504020204" pitchFamily="34" charset="0"/>
              </a:rPr>
              <a:t>Gracias</a:t>
            </a:r>
            <a:endParaRPr lang="es-CO" b="1" dirty="0">
              <a:latin typeface="Lucida Sans" panose="020B0602030504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906687" y="4724460"/>
            <a:ext cx="3282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200" b="1" dirty="0"/>
              <a:t>Dirección de Postgrados y Educación Continuada</a:t>
            </a:r>
          </a:p>
        </p:txBody>
      </p:sp>
      <p:cxnSp>
        <p:nvCxnSpPr>
          <p:cNvPr id="13" name="Conector recto 12"/>
          <p:cNvCxnSpPr/>
          <p:nvPr/>
        </p:nvCxnSpPr>
        <p:spPr>
          <a:xfrm>
            <a:off x="262965" y="1225176"/>
            <a:ext cx="2504141" cy="59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161365" y="1225176"/>
            <a:ext cx="2848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50" dirty="0" smtClean="0">
                <a:solidFill>
                  <a:schemeClr val="bg1"/>
                </a:solidFill>
                <a:latin typeface="Lucida Sans" panose="020B0602030504020204" pitchFamily="34" charset="0"/>
              </a:rPr>
              <a:t>Postgrados y Educación Continuada</a:t>
            </a:r>
            <a:endParaRPr lang="es-CO" sz="1150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35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1393</TotalTime>
  <Words>512</Words>
  <Application>Microsoft Office PowerPoint</Application>
  <PresentationFormat>Presentación en pantalla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Impact</vt:lpstr>
      <vt:lpstr>Lucida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Libia Liliana Ramirez Ospina</dc:creator>
  <cp:lastModifiedBy>Manuel Moscoso Sanchez</cp:lastModifiedBy>
  <cp:revision>73</cp:revision>
  <dcterms:created xsi:type="dcterms:W3CDTF">2015-08-25T14:54:10Z</dcterms:created>
  <dcterms:modified xsi:type="dcterms:W3CDTF">2016-09-29T16:26:32Z</dcterms:modified>
</cp:coreProperties>
</file>